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Vaccination Data Analysis and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400" b="1"/>
            </a:pPr>
            <a:r>
              <a:t>Internship Project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Domain: Public Health and Epidemiology</a:t>
            </a:r>
          </a:p>
          <a:p>
            <a:pPr algn="ctr">
              <a:spcAft>
                <a:spcPts val="1800"/>
              </a:spcAft>
              <a:defRPr sz="2000" b="0"/>
            </a:pPr>
            <a:r>
              <a:t>Skills: Python • Data Cleaning • EDA • SQL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Analyzed global vaccination coverage, disease incidence, reported cases, vaccine introduction and vaccine schedules.</a:t>
            </a:r>
          </a:p>
          <a:p>
            <a:pPr>
              <a:spcAft>
                <a:spcPts val="1300"/>
              </a:spcAft>
              <a:defRPr sz="2000"/>
            </a:pPr>
            <a:r>
              <a:t>Goal: identify vaccination trends, disease patterns and relationships between coverage and incidence.</a:t>
            </a:r>
          </a:p>
          <a:p>
            <a:pPr>
              <a:spcAft>
                <a:spcPts val="1300"/>
              </a:spcAft>
              <a:defRPr sz="2000"/>
            </a:pPr>
            <a:r>
              <a:t>Tools: Python, Pandas, NumPy, Matplotlib/Seaborn, MySQL/MariaDB,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Clean and prepare vaccination datasets.</a:t>
            </a:r>
          </a:p>
          <a:p>
            <a:pPr>
              <a:spcAft>
                <a:spcPts val="1300"/>
              </a:spcAft>
              <a:defRPr sz="2000"/>
            </a:pPr>
            <a:r>
              <a:t>Perform exploratory data analysis (EDA).</a:t>
            </a:r>
          </a:p>
          <a:p>
            <a:pPr>
              <a:spcAft>
                <a:spcPts val="1300"/>
              </a:spcAft>
              <a:defRPr sz="2000"/>
            </a:pPr>
            <a:r>
              <a:t>Study vaccination coverage and disease incidence trends.</a:t>
            </a:r>
          </a:p>
          <a:p>
            <a:pPr>
              <a:spcAft>
                <a:spcPts val="1300"/>
              </a:spcAft>
              <a:defRPr sz="2000"/>
            </a:pPr>
            <a:r>
              <a:t>Store cleaned data in a relational SQL database.</a:t>
            </a:r>
          </a:p>
          <a:p>
            <a:pPr>
              <a:spcAft>
                <a:spcPts val="1300"/>
              </a:spcAft>
              <a:defRPr sz="2000"/>
            </a:pPr>
            <a:r>
              <a:t>Create meaningful visualizations and summarize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Datasets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Coverage Data — 399,858 rows</a:t>
            </a:r>
          </a:p>
          <a:p>
            <a:pPr>
              <a:spcAft>
                <a:spcPts val="1300"/>
              </a:spcAft>
              <a:defRPr sz="2000"/>
            </a:pPr>
            <a:r>
              <a:t>Incidence Rate Data — 84,945 original rows; 61,584 valid incidence records used for analysis</a:t>
            </a:r>
          </a:p>
          <a:p>
            <a:pPr>
              <a:spcAft>
                <a:spcPts val="1300"/>
              </a:spcAft>
              <a:defRPr sz="2000"/>
            </a:pPr>
            <a:r>
              <a:t>Reported Cases — 84,869 rows</a:t>
            </a:r>
          </a:p>
          <a:p>
            <a:pPr>
              <a:spcAft>
                <a:spcPts val="1300"/>
              </a:spcAft>
              <a:defRPr sz="2000"/>
            </a:pPr>
            <a:r>
              <a:t>Vaccine Introduction — 138,320 rows</a:t>
            </a:r>
          </a:p>
          <a:p>
            <a:pPr>
              <a:spcAft>
                <a:spcPts val="1300"/>
              </a:spcAft>
              <a:defRPr sz="2000"/>
            </a:pPr>
            <a:r>
              <a:t>Vaccine Schedule — 8,052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Handled missing values according to the analytical requirement.</a:t>
            </a:r>
          </a:p>
          <a:p>
            <a:pPr>
              <a:spcAft>
                <a:spcPts val="1300"/>
              </a:spcAft>
              <a:defRPr sz="2000"/>
            </a:pPr>
            <a:r>
              <a:t>Removed duplicate records where applicable.</a:t>
            </a:r>
          </a:p>
          <a:p>
            <a:pPr>
              <a:spcAft>
                <a:spcPts val="1300"/>
              </a:spcAft>
              <a:defRPr sz="2000"/>
            </a:pPr>
            <a:r>
              <a:t>Standardized column names and data types.</a:t>
            </a:r>
          </a:p>
          <a:p>
            <a:pPr>
              <a:spcAft>
                <a:spcPts val="1300"/>
              </a:spcAft>
              <a:defRPr sz="2000"/>
            </a:pPr>
            <a:r>
              <a:t>Kept valid zero-incidence observations.</a:t>
            </a:r>
          </a:p>
          <a:p>
            <a:pPr>
              <a:spcAft>
                <a:spcPts val="1300"/>
              </a:spcAft>
              <a:defRPr sz="2000"/>
            </a:pPr>
            <a:r>
              <a:t>Extreme coverage values above 100 were documented rather than silently deleted.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Coverage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Coverage dataset: 399,858 records, 243 countries/regions and 69 antigens.</a:t>
            </a:r>
          </a:p>
          <a:p>
            <a:pPr>
              <a:spcAft>
                <a:spcPts val="1300"/>
              </a:spcAft>
              <a:defRPr sz="2000"/>
            </a:pPr>
            <a:r>
              <a:t>Years covered: 1980–2023.</a:t>
            </a:r>
          </a:p>
          <a:p>
            <a:pPr>
              <a:spcAft>
                <a:spcPts val="1300"/>
              </a:spcAft>
              <a:defRPr sz="2000"/>
            </a:pPr>
            <a:r>
              <a:t>Average reported coverage: 78.03%.</a:t>
            </a:r>
          </a:p>
          <a:p>
            <a:pPr>
              <a:spcAft>
                <a:spcPts val="1300"/>
              </a:spcAft>
              <a:defRPr sz="2000"/>
            </a:pPr>
            <a:r>
              <a:t>Average coverage was highest in 2009 (84.47%) and lowest in 1980 (44.25%).</a:t>
            </a:r>
          </a:p>
          <a:p>
            <a:pPr>
              <a:spcAft>
                <a:spcPts val="1300"/>
              </a:spcAft>
              <a:defRPr sz="2000"/>
            </a:pPr>
            <a:r>
              <a:t>A year-wise trend visualization was created.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Disease Incidence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13 diseases were analyzed across 221 countries/regions.</a:t>
            </a:r>
          </a:p>
          <a:p>
            <a:pPr>
              <a:spcAft>
                <a:spcPts val="1300"/>
              </a:spcAft>
              <a:defRPr sz="2000"/>
            </a:pPr>
            <a:r>
              <a:t>Valid incidence observations used: 61,584.</a:t>
            </a:r>
          </a:p>
          <a:p>
            <a:pPr>
              <a:spcAft>
                <a:spcPts val="1300"/>
              </a:spcAft>
              <a:defRPr sz="2000"/>
            </a:pPr>
            <a:r>
              <a:t>Mean incidence rate: 109.45; median: 0.</a:t>
            </a:r>
          </a:p>
          <a:p>
            <a:pPr>
              <a:spcAft>
                <a:spcPts val="1300"/>
              </a:spcAft>
              <a:defRPr sz="2000"/>
            </a:pPr>
            <a:r>
              <a:t>Measles had the highest average incidence among the listed diseases, followed by typhoid and mumps.</a:t>
            </a:r>
          </a:p>
          <a:p>
            <a:pPr>
              <a:spcAft>
                <a:spcPts val="1300"/>
              </a:spcAft>
              <a:defRPr sz="2000"/>
            </a:pPr>
            <a:r>
              <a:t>Zero values were retained because they are meaningful observations.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Vaccination Coverage vs Incidence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Country-year data was merged using disease-specific vaccine/antigen mappings.</a:t>
            </a:r>
          </a:p>
          <a:p>
            <a:pPr>
              <a:spcAft>
                <a:spcPts val="1300"/>
              </a:spcAft>
              <a:defRPr sz="2000"/>
            </a:pPr>
            <a:r>
              <a:t>Measles analysis: 8,023 valid country-year records across 221 countries.</a:t>
            </a:r>
          </a:p>
          <a:p>
            <a:pPr>
              <a:spcAft>
                <a:spcPts val="1300"/>
              </a:spcAft>
              <a:defRPr sz="2000"/>
            </a:pPr>
            <a:r>
              <a:t>Average coverage: 77.03%; average incidence: 440.03.</a:t>
            </a:r>
          </a:p>
          <a:p>
            <a:pPr>
              <a:spcAft>
                <a:spcPts val="1300"/>
              </a:spcAft>
              <a:defRPr sz="2000"/>
            </a:pPr>
            <a:r>
              <a:t>Pearson correlation: -0.1994.</a:t>
            </a:r>
          </a:p>
          <a:p>
            <a:pPr>
              <a:spcAft>
                <a:spcPts val="1300"/>
              </a:spcAft>
              <a:defRPr sz="2000"/>
            </a:pPr>
            <a:r>
              <a:t>Spearman correlation: -0.4455.</a:t>
            </a:r>
          </a:p>
          <a:p>
            <a:pPr>
              <a:spcAft>
                <a:spcPts val="1300"/>
              </a:spcAft>
              <a:defRPr sz="2000"/>
            </a:pPr>
            <a:r>
              <a:t>These are associations in the dataset, not proof of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Dose Drop-off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MCV1 → MCV2: average coverage decreased from 89.27% to 76.83%.</a:t>
            </a:r>
          </a:p>
          <a:p>
            <a:pPr>
              <a:spcAft>
                <a:spcPts val="1300"/>
              </a:spcAft>
              <a:defRPr sz="2000"/>
            </a:pPr>
            <a:r>
              <a:t>Average drop: 12.44 percentage points (15.32% relative).</a:t>
            </a:r>
          </a:p>
          <a:p>
            <a:pPr>
              <a:spcAft>
                <a:spcPts val="1300"/>
              </a:spcAft>
              <a:defRPr sz="2000"/>
            </a:pPr>
            <a:r>
              <a:t>DTPCV1 → DTPCV3: average coverage decreased from 87.62% to 79.80%.</a:t>
            </a:r>
          </a:p>
          <a:p>
            <a:pPr>
              <a:spcAft>
                <a:spcPts val="1300"/>
              </a:spcAft>
              <a:defRPr sz="2000"/>
            </a:pPr>
            <a:r>
              <a:t>Average drop: 7.83 percentage points (11.09% relative).</a:t>
            </a:r>
          </a:p>
          <a:p>
            <a:pPr>
              <a:spcAft>
                <a:spcPts val="1300"/>
              </a:spcAft>
              <a:defRPr sz="2000"/>
            </a:pPr>
            <a:r>
              <a:t>The analysis highlights possible follow-up/series-completion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Vaccine Introduction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Vaccine introduction records: 138,320.</a:t>
            </a:r>
          </a:p>
          <a:p>
            <a:pPr>
              <a:spcAft>
                <a:spcPts val="1300"/>
              </a:spcAft>
              <a:defRPr sz="2000"/>
            </a:pPr>
            <a:r>
              <a:t>Introduction statuses included Yes, Yes (R), Yes (P), High risk area and others.</a:t>
            </a:r>
          </a:p>
          <a:p>
            <a:pPr>
              <a:spcAft>
                <a:spcPts val="1300"/>
              </a:spcAft>
              <a:defRPr sz="2000"/>
            </a:pPr>
            <a:r>
              <a:t>For the descriptive measles merge, records without introduction had higher reported case totals than records with introduction.</a:t>
            </a:r>
          </a:p>
          <a:p>
            <a:pPr>
              <a:spcAft>
                <a:spcPts val="1300"/>
              </a:spcAft>
              <a:defRPr sz="2000"/>
            </a:pPr>
            <a:r>
              <a:t>Reported case counts were not population-normalized; therefore this comparison is descriptive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Booster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TT2PLUS average coverage: 52.01%.</a:t>
            </a:r>
          </a:p>
          <a:p>
            <a:pPr>
              <a:spcAft>
                <a:spcPts val="1300"/>
              </a:spcAft>
              <a:defRPr sz="2000"/>
            </a:pPr>
            <a:r>
              <a:t>TTCV4 average coverage: 82.07%.</a:t>
            </a:r>
          </a:p>
          <a:p>
            <a:pPr>
              <a:spcAft>
                <a:spcPts val="1300"/>
              </a:spcAft>
              <a:defRPr sz="2000"/>
            </a:pPr>
            <a:r>
              <a:t>TTCV5 average coverage: 78.02%.</a:t>
            </a:r>
          </a:p>
          <a:p>
            <a:pPr>
              <a:spcAft>
                <a:spcPts val="1300"/>
              </a:spcAft>
              <a:defRPr sz="2000"/>
            </a:pPr>
            <a:r>
              <a:t>TTCV6 average coverage: 75.39%.</a:t>
            </a:r>
          </a:p>
          <a:p>
            <a:pPr>
              <a:spcAft>
                <a:spcPts val="1300"/>
              </a:spcAft>
              <a:defRPr sz="2000"/>
            </a:pPr>
            <a:r>
              <a:t>Booster-related coverage varied across years and vaccine rounds.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SQL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Database: vaccination_analysis.</a:t>
            </a:r>
          </a:p>
          <a:p>
            <a:pPr>
              <a:spcAft>
                <a:spcPts val="1300"/>
              </a:spcAft>
              <a:defRPr sz="2000"/>
            </a:pPr>
            <a:r>
              <a:t>Tables: coverage, incidence_rate, reported_cases, vaccine_introduction, vaccine_schedule.</a:t>
            </a:r>
          </a:p>
          <a:p>
            <a:pPr>
              <a:spcAft>
                <a:spcPts val="1300"/>
              </a:spcAft>
              <a:defRPr sz="2000"/>
            </a:pPr>
            <a:r>
              <a:t>Loaded row counts: 399,858; 61,584; 84,869; 138,320; 8,052.</a:t>
            </a:r>
          </a:p>
          <a:p>
            <a:pPr>
              <a:spcAft>
                <a:spcPts val="1300"/>
              </a:spcAft>
              <a:defRPr sz="2000"/>
            </a:pPr>
            <a:r>
              <a:t>Used relational tables and SQL queries for validation and analysis.</a:t>
            </a:r>
          </a:p>
          <a:p>
            <a:pPr>
              <a:spcAft>
                <a:spcPts val="1300"/>
              </a:spcAft>
              <a:defRPr sz="2000"/>
            </a:pPr>
            <a:r>
              <a:t>MariaDB/MySQL environment was used locally.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Vaccination coverage showed substantial improvement from the early years of the dataset.</a:t>
            </a:r>
          </a:p>
          <a:p>
            <a:pPr>
              <a:spcAft>
                <a:spcPts val="1300"/>
              </a:spcAft>
              <a:defRPr sz="2000"/>
            </a:pPr>
            <a:r>
              <a:t>Measles showed a negative association with vaccination coverage in the analyzed country-year data.</a:t>
            </a:r>
          </a:p>
          <a:p>
            <a:pPr>
              <a:spcAft>
                <a:spcPts val="1300"/>
              </a:spcAft>
              <a:defRPr sz="2000"/>
            </a:pPr>
            <a:r>
              <a:t>Coverage drop-off was observed between successive vaccine doses.</a:t>
            </a:r>
          </a:p>
          <a:p>
            <a:pPr>
              <a:spcAft>
                <a:spcPts val="1300"/>
              </a:spcAft>
              <a:defRPr sz="2000"/>
            </a:pPr>
            <a:r>
              <a:t>Disease incidence and reported cases varied widely by disease, country and year.</a:t>
            </a:r>
          </a:p>
          <a:p>
            <a:pPr>
              <a:spcAft>
                <a:spcPts val="1300"/>
              </a:spcAft>
              <a:defRPr sz="2000"/>
            </a:pPr>
            <a:r>
              <a:t>The dataset contains historical observations, so findings should not be interpreted as current public-health status.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Historical data spans 1980–2023 and does not represent current conditions.</a:t>
            </a:r>
          </a:p>
          <a:p>
            <a:pPr>
              <a:spcAft>
                <a:spcPts val="1300"/>
              </a:spcAft>
              <a:defRPr sz="2000"/>
            </a:pPr>
            <a:r>
              <a:t>Some variables contain missing values.</a:t>
            </a:r>
          </a:p>
          <a:p>
            <a:pPr>
              <a:spcAft>
                <a:spcPts val="1300"/>
              </a:spcAft>
              <a:defRPr sz="2000"/>
            </a:pPr>
            <a:r>
              <a:t>Coverage values above 100 occur in the source data and require contextual interpretation.</a:t>
            </a:r>
          </a:p>
          <a:p>
            <a:pPr>
              <a:spcAft>
                <a:spcPts val="1300"/>
              </a:spcAft>
              <a:defRPr sz="2000"/>
            </a:pPr>
            <a:r>
              <a:t>Correlation does not establish causation.</a:t>
            </a:r>
          </a:p>
          <a:p>
            <a:pPr>
              <a:spcAft>
                <a:spcPts val="1300"/>
              </a:spcAft>
              <a:defRPr sz="2000"/>
            </a:pPr>
            <a:r>
              <a:t>Reported cases and incidence measures are not directly interchangeable.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The project demonstrates a complete workflow from data cleaning and EDA to SQL storage and analytical reporting.</a:t>
            </a:r>
          </a:p>
          <a:p>
            <a:pPr>
              <a:spcAft>
                <a:spcPts val="1300"/>
              </a:spcAft>
              <a:defRPr sz="2000"/>
            </a:pPr>
            <a:r>
              <a:t>Future work: Power BI interactive dashboards, scheduled refresh, geographic maps and richer KPI reporting.</a:t>
            </a:r>
          </a:p>
          <a:p>
            <a:pPr>
              <a:spcAft>
                <a:spcPts val="1300"/>
              </a:spcAft>
              <a:defRPr sz="2000"/>
            </a:pPr>
            <a:r>
              <a:t>Additional modeling could study risk factors and forecasting with appropriately normalized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400"/>
            </a:pPr>
            <a:r>
              <a:t>Vaccination Data Analysis and Visualization</a:t>
            </a:r>
          </a:p>
          <a:p>
            <a:pPr algn="ctr">
              <a:spcAft>
                <a:spcPts val="1600"/>
              </a:spcAft>
              <a:defRPr sz="2000"/>
            </a:pPr>
            <a:r>
              <a:t>Internship Project</a:t>
            </a:r>
          </a:p>
          <a:p>
            <a:pPr algn="ctr">
              <a:spcAft>
                <a:spcPts val="1600"/>
              </a:spcAft>
              <a:defRPr sz="2000"/>
            </a:pPr>
            <a:r>
              <a:t>Prepared by Divya Madare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